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15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Relationship Id="rId13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15.png"/><Relationship Id="rId10" Type="http://schemas.openxmlformats.org/officeDocument/2006/relationships/image" Target="../media/image24.png"/><Relationship Id="rId11" Type="http://schemas.openxmlformats.org/officeDocument/2006/relationships/image" Target="../media/image36.png"/><Relationship Id="rId12" Type="http://schemas.openxmlformats.org/officeDocument/2006/relationships/image" Target="../media/image3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15.png"/><Relationship Id="rId6" Type="http://schemas.openxmlformats.org/officeDocument/2006/relationships/image" Target="../media/image24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1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15.png"/><Relationship Id="rId6" Type="http://schemas.openxmlformats.org/officeDocument/2006/relationships/image" Target="../media/image46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4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5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15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Relationship Id="rId12" Type="http://schemas.openxmlformats.org/officeDocument/2006/relationships/image" Target="../media/image6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6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15.png"/><Relationship Id="rId6" Type="http://schemas.openxmlformats.org/officeDocument/2006/relationships/image" Target="../media/image6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6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15.png"/><Relationship Id="rId8" Type="http://schemas.openxmlformats.org/officeDocument/2006/relationships/image" Target="../media/image72.png"/><Relationship Id="rId9" Type="http://schemas.openxmlformats.org/officeDocument/2006/relationships/image" Target="../media/image73.png"/><Relationship Id="rId10" Type="http://schemas.openxmlformats.org/officeDocument/2006/relationships/image" Target="../media/image4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15.png"/><Relationship Id="rId7" Type="http://schemas.openxmlformats.org/officeDocument/2006/relationships/image" Target="../media/image72.png"/><Relationship Id="rId8" Type="http://schemas.openxmlformats.org/officeDocument/2006/relationships/image" Target="../media/image77.png"/><Relationship Id="rId9" Type="http://schemas.openxmlformats.org/officeDocument/2006/relationships/image" Target="../media/image78.png"/><Relationship Id="rId10" Type="http://schemas.openxmlformats.org/officeDocument/2006/relationships/image" Target="../media/image4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15.png"/><Relationship Id="rId6" Type="http://schemas.openxmlformats.org/officeDocument/2006/relationships/image" Target="../media/image72.png"/><Relationship Id="rId7" Type="http://schemas.openxmlformats.org/officeDocument/2006/relationships/image" Target="../media/image4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7.png"/><Relationship Id="rId9" Type="http://schemas.openxmlformats.org/officeDocument/2006/relationships/image" Target="../media/image88.png"/><Relationship Id="rId10" Type="http://schemas.openxmlformats.org/officeDocument/2006/relationships/image" Target="../media/image15.png"/><Relationship Id="rId11" Type="http://schemas.openxmlformats.org/officeDocument/2006/relationships/image" Target="../media/image89.png"/><Relationship Id="rId12" Type="http://schemas.openxmlformats.org/officeDocument/2006/relationships/image" Target="../media/image90.png"/><Relationship Id="rId13" Type="http://schemas.openxmlformats.org/officeDocument/2006/relationships/image" Target="../media/image4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9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1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4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10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4.png"/><Relationship Id="rId4" Type="http://schemas.openxmlformats.org/officeDocument/2006/relationships/image" Target="../media/image4.png"/><Relationship Id="rId5" Type="http://schemas.openxmlformats.org/officeDocument/2006/relationships/image" Target="../media/image105.png"/><Relationship Id="rId6" Type="http://schemas.openxmlformats.org/officeDocument/2006/relationships/image" Target="../media/image10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7.png"/><Relationship Id="rId4" Type="http://schemas.openxmlformats.org/officeDocument/2006/relationships/image" Target="../media/image10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1638895"/>
            <a:ext cx="2775942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4599979"/>
            <a:ext cx="8096250" cy="619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6381750"/>
            <a:ext cx="1114425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9625" y="2134195"/>
            <a:ext cx="7555163" cy="123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59"/>
              </a:lnSpc>
            </a:pPr>
            <a:r>
              <a:rPr b="0" sz="4050" i="0" u="none">
                <a:solidFill>
                  <a:srgbClr val="FFFFFF"/>
                </a:solidFill>
                <a:latin typeface="Noto Sans KR Black"/>
              </a:rPr>
              <a:t>The Missing Link:</a:t>
            </a:r>
            <a:r>
              <a:t>
</a:t>
            </a:r>
            <a:r>
              <a:rPr b="0" sz="4050" i="0" u="none">
                <a:solidFill>
                  <a:srgbClr val="FFFFFF"/>
                </a:solidFill>
                <a:latin typeface="Noto Sans KR Black"/>
              </a:rPr>
              <a:t>한국 지방 관광</a:t>
            </a:r>
            <a:r>
              <a:rPr b="0" sz="4050" i="0" u="none">
                <a:solidFill>
                  <a:srgbClr val="FFFFFF"/>
                </a:solidFill>
                <a:latin typeface="Noto Sans KR Black"/>
              </a:rPr>
              <a:t>의 전환 병목 진단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540025"/>
            <a:ext cx="6156573" cy="659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98"/>
              </a:lnSpc>
            </a:pPr>
            <a:r>
              <a:rPr b="0" sz="1575" i="0" u="none">
                <a:solidFill>
                  <a:srgbClr val="CBD5E1"/>
                </a:solidFill>
                <a:latin typeface="Noto Sans KR"/>
              </a:rPr>
              <a:t>높아진 글로벌 디지털 관심도는 왜 실제 방문으로 이어지지 않는가?</a:t>
            </a:r>
            <a:r>
              <a:t>
</a:t>
            </a:r>
            <a:r>
              <a:rPr b="0" sz="1575" i="0" u="none">
                <a:solidFill>
                  <a:srgbClr val="CBD5E1"/>
                </a:solidFill>
                <a:latin typeface="Noto Sans KR"/>
              </a:rPr>
              <a:t> 데이터로 진단하는 외래 관광객 전환 병목 현상과 수용 태세 개선 전략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875" y="6505575"/>
            <a:ext cx="235178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 Medium"/>
              </a:rPr>
              <a:t>Bridging the Korean Regional Tourism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5665" y="6505575"/>
            <a:ext cx="39245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 Medium"/>
              </a:rPr>
              <a:t>Page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838104"/>
            <a:ext cx="2016174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Plus Jakarta Sans"/>
              </a:rPr>
              <a:t>작성자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5038129"/>
            <a:ext cx="2016174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F1F5F9"/>
                </a:solidFill>
                <a:latin typeface="Noto Sans KR"/>
              </a:rPr>
              <a:t>프로젝트 5팀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6799" y="4838104"/>
            <a:ext cx="225429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4A3B8"/>
                </a:solidFill>
                <a:latin typeface="Plus Jakarta Sans"/>
              </a:rPr>
              <a:t>분석 데이터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6799" y="5038129"/>
            <a:ext cx="5699076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1F5F9"/>
                </a:solidFill>
                <a:latin typeface="Noto Sans KR"/>
              </a:rPr>
              <a:t>한국관광공사(KTO) 통계 &amp; 데이터랩 · 한국문화관광연구원 외래관광객 실태조사 · 신한카드 &amp; BC카드 소비 빅데이터 · 문화체육관광부 &amp; 공공데이터포털 (ODCloud) · 문화공공데이터광장 (축제/여행지 정보) · 글로벌 OTA (Klook, KKday, GetYourGuide) · 인스타그램 리뷰 및 해시태그 버즈 · 캐치테이블 글로벌 예약/리뷰 · 네이버 지도 외국인 리뷰 · 구글 트렌드 분석 · TripAdvisor 평점 및 리뷰 · Tumblr 포럼 리뷰 데이터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4514850"/>
            <a:ext cx="857250" cy="47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6353175"/>
            <a:ext cx="11144250" cy="295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3875" y="6477000"/>
            <a:ext cx="915144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 Medium"/>
              </a:rPr>
              <a:t>1. 프로젝트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5665" y="6491287"/>
            <a:ext cx="39245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 Medium"/>
              </a:rPr>
              <a:t>Page 2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295525"/>
            <a:ext cx="1368772" cy="32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2847975"/>
            <a:ext cx="3723121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75"/>
              </a:lnSpc>
            </a:pPr>
            <a:r>
              <a:rPr b="0" sz="3900" i="0" u="none">
                <a:solidFill>
                  <a:srgbClr val="0F172A"/>
                </a:solidFill>
                <a:latin typeface="Noto Sans KR Black"/>
              </a:rPr>
              <a:t>1. 프로젝트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638550"/>
            <a:ext cx="71437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Noto Sans KR"/>
              </a:rPr>
              <a:t>지방 관광의 현주소와 관심-방문 격차 문제의 심각성을 진단하고 핵심 정의 및 분석 목표를 제시합니다.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607468"/>
            <a:ext cx="5457825" cy="23002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607468"/>
            <a:ext cx="5457825" cy="23002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164806"/>
            <a:ext cx="4981575" cy="504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3850481"/>
            <a:ext cx="2433637" cy="8191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6362" y="3850481"/>
            <a:ext cx="2433637" cy="8191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5" y="6381750"/>
            <a:ext cx="1114425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61277" y="495300"/>
            <a:ext cx="1206847" cy="285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3875" y="6505575"/>
            <a:ext cx="235178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Medium"/>
              </a:rPr>
              <a:t>Bridging the Korean Regional Tourism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5665" y="6505575"/>
            <a:ext cx="39245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Medium"/>
              </a:rPr>
              <a:t>Page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8041" y="2845593"/>
            <a:ext cx="4745533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Noto Sans KR"/>
              </a:rPr>
              <a:t>현상과 과제: 단절된 전환율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236118"/>
            <a:ext cx="4981575" cy="707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56"/>
              </a:lnSpc>
            </a:pPr>
            <a:r>
              <a:rPr b="0" sz="1125" i="0" u="none">
                <a:solidFill>
                  <a:srgbClr val="334155"/>
                </a:solidFill>
                <a:latin typeface="Noto Sans KR"/>
              </a:rPr>
              <a:t>최근 외국인 관광객들의 한국 지방 도시에 대한 디지털 관심도(SNS 검색량)는 최고조에 달했으나, </a:t>
            </a:r>
            <a:r>
              <a:rPr b="1" sz="1125" i="0" u="none">
                <a:solidFill>
                  <a:srgbClr val="334155"/>
                </a:solidFill>
                <a:latin typeface="Noto Sans KR"/>
              </a:rPr>
              <a:t>실제 방문율 및 체류 시간은 정체</a:t>
            </a:r>
            <a:r>
              <a:rPr b="0" sz="1125" i="0" u="none">
                <a:solidFill>
                  <a:srgbClr val="334155"/>
                </a:solidFill>
                <a:latin typeface="Noto Sans KR"/>
              </a:rPr>
              <a:t>되는 심각한 '단절'이 발생하고 있습니다.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5570" y="4326731"/>
            <a:ext cx="309428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40AF"/>
                </a:solidFill>
                <a:latin typeface="Noto Sans KR"/>
              </a:rPr>
              <a:t>디지털 관심도 (▲ 급증) vs 실제 방문율 (― 정체)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4466" y="2845593"/>
            <a:ext cx="4745533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Noto Sans KR"/>
              </a:rPr>
              <a:t>프로젝트 핵심 목표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3236118"/>
            <a:ext cx="4981575" cy="4714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56"/>
              </a:lnSpc>
            </a:pPr>
            <a:r>
              <a:rPr b="0" sz="1125" i="0" u="none">
                <a:solidFill>
                  <a:srgbClr val="334155"/>
                </a:solidFill>
                <a:latin typeface="Noto Sans KR"/>
              </a:rPr>
              <a:t>방문율이 높은 성공 도시의 인프라 및 콘텐츠를 벤치마킹하여 </a:t>
            </a:r>
            <a:r>
              <a:rPr b="1" sz="1125" i="0" u="none">
                <a:solidFill>
                  <a:srgbClr val="334155"/>
                </a:solidFill>
                <a:latin typeface="Noto Sans KR"/>
              </a:rPr>
              <a:t>'관심-방문 격차'를 해소할 데이터 기반 실천 전략</a:t>
            </a:r>
            <a:r>
              <a:rPr b="0" sz="1125" i="0" u="none">
                <a:solidFill>
                  <a:srgbClr val="334155"/>
                </a:solidFill>
                <a:latin typeface="Noto Sans KR"/>
              </a:rPr>
              <a:t>을 제안합니다.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2878931"/>
            <a:ext cx="140791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8425" y="2878931"/>
            <a:ext cx="140791" cy="1809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29400" y="4031456"/>
            <a:ext cx="2071687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50"/>
              </a:lnSpc>
            </a:pPr>
            <a:r>
              <a:rPr b="0" sz="1650" i="0" u="none">
                <a:solidFill>
                  <a:srgbClr val="4F46E5"/>
                </a:solidFill>
                <a:latin typeface="Plus Jakarta Sans ExtraBold"/>
              </a:rPr>
              <a:t>Conversion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317206"/>
            <a:ext cx="207168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Noto Sans KR SemiBold"/>
              </a:rPr>
              <a:t>관심-방문 전환율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7337" y="4031456"/>
            <a:ext cx="2071687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50"/>
              </a:lnSpc>
            </a:pPr>
            <a:r>
              <a:rPr b="0" sz="1650" i="0" u="none">
                <a:solidFill>
                  <a:srgbClr val="10B981"/>
                </a:solidFill>
                <a:latin typeface="Plus Jakarta Sans ExtraBold"/>
              </a:rPr>
              <a:t>Friction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7337" y="4317206"/>
            <a:ext cx="207168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Noto Sans KR SemiBold"/>
              </a:rPr>
              <a:t>교통 접근성 마찰 지수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875" y="428625"/>
            <a:ext cx="111442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Noto Sans KR ExtraBold"/>
              </a:rPr>
              <a:t>프로젝트 배경 및 핵심 목표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3875" y="847725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4514850"/>
            <a:ext cx="857250" cy="47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6353175"/>
            <a:ext cx="11144250" cy="295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3875" y="6477000"/>
            <a:ext cx="1032123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 Medium"/>
              </a:rPr>
              <a:t>2. 문제정의 &amp; 가설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5665" y="6491287"/>
            <a:ext cx="39245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 Medium"/>
              </a:rPr>
              <a:t>Page 4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295525"/>
            <a:ext cx="1368772" cy="32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2847975"/>
            <a:ext cx="4219277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75"/>
              </a:lnSpc>
            </a:pPr>
            <a:r>
              <a:rPr b="0" sz="3900" i="0" u="none">
                <a:solidFill>
                  <a:srgbClr val="0F172A"/>
                </a:solidFill>
                <a:latin typeface="Noto Sans KR Black"/>
              </a:rPr>
              <a:t>2. 문제정의 &amp; 가설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638550"/>
            <a:ext cx="71437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Noto Sans KR"/>
              </a:rPr>
              <a:t>3C 분석 및 고객 여정(Funnel)을 통해 외래 관광객이 어디서 이탈하는지 정밀하게 분석합니다.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327028"/>
            <a:ext cx="11144250" cy="1009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178546"/>
            <a:ext cx="3587650" cy="195798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2025" y="2178546"/>
            <a:ext cx="3587799" cy="195798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0325" y="2178546"/>
            <a:ext cx="3587650" cy="195798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6381750"/>
            <a:ext cx="1114425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48912" y="495300"/>
            <a:ext cx="1319212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3875" y="6505575"/>
            <a:ext cx="235178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Medium"/>
              </a:rPr>
              <a:t>Bridging the Korean Regional Tourism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5665" y="6505575"/>
            <a:ext cx="39245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Medium"/>
              </a:rPr>
              <a:t>Page 5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4565153"/>
            <a:ext cx="533400" cy="533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98041" y="2416671"/>
            <a:ext cx="2875359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Noto Sans KR"/>
              </a:rPr>
              <a:t>Customer (외국인)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911971"/>
            <a:ext cx="3111400" cy="853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Noto Sans KR"/>
              </a:rPr>
              <a:t>• </a:t>
            </a:r>
            <a:r>
              <a:rPr b="1" sz="1050" i="0" u="none">
                <a:solidFill>
                  <a:srgbClr val="475569"/>
                </a:solidFill>
                <a:latin typeface="Noto Sans KR"/>
              </a:rPr>
              <a:t>10~40대 청년층:</a:t>
            </a:r>
            <a:r>
              <a:rPr b="0" sz="1050" i="0" u="none">
                <a:solidFill>
                  <a:srgbClr val="475569"/>
                </a:solidFill>
                <a:latin typeface="Noto Sans KR"/>
              </a:rPr>
              <a:t> SNS 탐색, 개별 자유여행(FIT) 선호</a:t>
            </a:r>
            <a:r>
              <a:t>
</a:t>
            </a:r>
            <a:r>
              <a:rPr b="0" sz="1050" i="0" u="none">
                <a:solidFill>
                  <a:srgbClr val="475569"/>
                </a:solidFill>
                <a:latin typeface="Noto Sans KR"/>
              </a:rPr>
              <a:t> • </a:t>
            </a:r>
            <a:r>
              <a:rPr b="1" sz="1050" i="0" u="none">
                <a:solidFill>
                  <a:srgbClr val="475569"/>
                </a:solidFill>
                <a:latin typeface="Noto Sans KR"/>
              </a:rPr>
              <a:t>50~90대 중년층:</a:t>
            </a:r>
            <a:r>
              <a:rPr b="0" sz="1050" i="0" u="none">
                <a:solidFill>
                  <a:srgbClr val="475569"/>
                </a:solidFill>
                <a:latin typeface="Noto Sans KR"/>
              </a:rPr>
              <a:t> 편의성, 전통문화, 쾌적한 휴양 선호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6192" y="2416671"/>
            <a:ext cx="2875508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Noto Sans KR"/>
              </a:rPr>
              <a:t>Competitor (수도권)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0150" y="2911971"/>
            <a:ext cx="3111549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Noto Sans KR"/>
              </a:rPr>
              <a:t>• </a:t>
            </a:r>
            <a:r>
              <a:rPr b="1" sz="1050" i="0" u="none">
                <a:solidFill>
                  <a:srgbClr val="475569"/>
                </a:solidFill>
                <a:latin typeface="Noto Sans KR"/>
              </a:rPr>
              <a:t>강점:</a:t>
            </a:r>
            <a:r>
              <a:rPr b="0" sz="1050" i="0" u="none">
                <a:solidFill>
                  <a:srgbClr val="475569"/>
                </a:solidFill>
                <a:latin typeface="Noto Sans KR"/>
              </a:rPr>
              <a:t> 편리한 대중교통, 풍부한 인프라</a:t>
            </a:r>
            <a:r>
              <a:t>
</a:t>
            </a:r>
            <a:r>
              <a:rPr b="0" sz="1050" i="0" u="none">
                <a:solidFill>
                  <a:srgbClr val="475569"/>
                </a:solidFill>
                <a:latin typeface="Noto Sans KR"/>
              </a:rPr>
              <a:t> • </a:t>
            </a:r>
            <a:r>
              <a:rPr b="1" sz="1050" i="0" u="none">
                <a:solidFill>
                  <a:srgbClr val="475569"/>
                </a:solidFill>
                <a:latin typeface="Noto Sans KR"/>
              </a:rPr>
              <a:t>한계:</a:t>
            </a:r>
            <a:r>
              <a:rPr b="0" sz="1050" i="0" u="none">
                <a:solidFill>
                  <a:srgbClr val="475569"/>
                </a:solidFill>
                <a:latin typeface="Noto Sans KR"/>
              </a:rPr>
              <a:t> '진짜 로컬 한국 경험'의 부재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54491" y="2416671"/>
            <a:ext cx="2875359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Noto Sans KR"/>
              </a:rPr>
              <a:t>Company (지방도시)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8450" y="2911971"/>
            <a:ext cx="31114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Noto Sans KR"/>
              </a:rPr>
              <a:t>• </a:t>
            </a:r>
            <a:r>
              <a:rPr b="1" sz="1050" i="0" u="none">
                <a:solidFill>
                  <a:srgbClr val="475569"/>
                </a:solidFill>
                <a:latin typeface="Noto Sans KR"/>
              </a:rPr>
              <a:t>강점:</a:t>
            </a:r>
            <a:r>
              <a:rPr b="0" sz="1050" i="0" u="none">
                <a:solidFill>
                  <a:srgbClr val="475569"/>
                </a:solidFill>
                <a:latin typeface="Noto Sans KR"/>
              </a:rPr>
              <a:t> 고유한 로컬 콘텐츠 자원 보유</a:t>
            </a:r>
            <a:r>
              <a:t>
</a:t>
            </a:r>
            <a:r>
              <a:rPr b="0" sz="1050" i="0" u="none">
                <a:solidFill>
                  <a:srgbClr val="475569"/>
                </a:solidFill>
                <a:latin typeface="Noto Sans KR"/>
              </a:rPr>
              <a:t> • </a:t>
            </a:r>
            <a:r>
              <a:rPr b="1" sz="1050" i="0" u="none">
                <a:solidFill>
                  <a:srgbClr val="475569"/>
                </a:solidFill>
                <a:latin typeface="Noto Sans KR"/>
              </a:rPr>
              <a:t>약점:</a:t>
            </a:r>
            <a:r>
              <a:rPr b="0" sz="1050" i="0" u="none">
                <a:solidFill>
                  <a:srgbClr val="475569"/>
                </a:solidFill>
                <a:latin typeface="Noto Sans KR"/>
              </a:rPr>
              <a:t> 교외 교통 미흡, 외국어 정보 부족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4767" y="4727078"/>
            <a:ext cx="163115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33525" y="4593728"/>
            <a:ext cx="1001265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9F1239"/>
                </a:solidFill>
                <a:latin typeface="Noto Sans KR"/>
              </a:rPr>
              <a:t>핵심 이탈 타겟: 관심-방문 전환 이탈 여행객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3525" y="4869953"/>
            <a:ext cx="9535864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881337"/>
                </a:solidFill>
                <a:latin typeface="Noto Sans KR"/>
              </a:rPr>
              <a:t>지방 로컬 문화에 높은 관심(Acquisition)을 보이나, KTX 탑승 후 대중교통 미흡 및 예약 인프라 마찰로 실제 방문(Activation)에서 이탈하는 </a:t>
            </a:r>
            <a:r>
              <a:rPr b="1" sz="1050" i="0" u="none">
                <a:solidFill>
                  <a:srgbClr val="881337"/>
                </a:solidFill>
                <a:latin typeface="Noto Sans KR"/>
              </a:rPr>
              <a:t>1040 FIT &amp; 5090 휴양객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2450008"/>
            <a:ext cx="140791" cy="1809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40150" y="2450008"/>
            <a:ext cx="140791" cy="1809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18450" y="2450008"/>
            <a:ext cx="140791" cy="1809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23875" y="428625"/>
            <a:ext cx="111442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Noto Sans KR ExtraBold"/>
              </a:rPr>
              <a:t>3C 분석 및 타겟 세그먼트 정의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3875" y="847725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432744"/>
            <a:ext cx="3740794" cy="1028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544" y="2432744"/>
            <a:ext cx="2891283" cy="1028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1703" y="2432744"/>
            <a:ext cx="2041773" cy="1028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6351" y="2432744"/>
            <a:ext cx="2041773" cy="1028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3670994"/>
            <a:ext cx="5457825" cy="141133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3670994"/>
            <a:ext cx="5457825" cy="141133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875" y="6381750"/>
            <a:ext cx="1114425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48912" y="495300"/>
            <a:ext cx="1319212" cy="285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3875" y="6505575"/>
            <a:ext cx="235178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Medium"/>
              </a:rPr>
              <a:t>Bridging the Korean Regional Tourism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5665" y="6505575"/>
            <a:ext cx="39245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Medium"/>
              </a:rPr>
              <a:t>Page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325" y="2670869"/>
            <a:ext cx="892373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730A3"/>
                </a:solidFill>
                <a:latin typeface="Plus Jakarta Sans ExtraBold"/>
              </a:rPr>
              <a:t>[Acquisition] 탐색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325" y="2880419"/>
            <a:ext cx="3567789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1B4B"/>
                </a:solidFill>
                <a:latin typeface="Noto Sans KR"/>
              </a:rPr>
              <a:t>K-컬처 &amp; SNS 관심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325" y="3118544"/>
            <a:ext cx="3397894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338CA"/>
                </a:solidFill>
                <a:latin typeface="Noto Sans KR"/>
              </a:rPr>
              <a:t>SNS 버즈 및 콘텐츠 소비 최고조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8994" y="2670869"/>
            <a:ext cx="1498550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F1239"/>
                </a:solidFill>
                <a:latin typeface="Plus Jakarta Sans ExtraBold"/>
              </a:rPr>
              <a:t>[Activation] 방문 결정 ★ 병목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8994" y="2880419"/>
            <a:ext cx="2675803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881337"/>
                </a:solidFill>
                <a:latin typeface="Noto Sans KR"/>
              </a:rPr>
              <a:t>이동 마찰로 대거 이탈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8994" y="3118544"/>
            <a:ext cx="2548383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BE123C"/>
                </a:solidFill>
                <a:latin typeface="Noto Sans KR"/>
              </a:rPr>
              <a:t>교통 연계 미흡 &amp; 외국어 불가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3153" y="2670869"/>
            <a:ext cx="809476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Plus Jakarta Sans ExtraBold"/>
              </a:rPr>
              <a:t>[Retention] 체류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3153" y="2880419"/>
            <a:ext cx="1783816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Noto Sans KR"/>
              </a:rPr>
              <a:t>로컬 체험 및 숙박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7801" y="2670869"/>
            <a:ext cx="752326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75569"/>
                </a:solidFill>
                <a:latin typeface="Plus Jakarta Sans ExtraBold"/>
              </a:rPr>
              <a:t>[Revenue] 소비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97801" y="2880419"/>
            <a:ext cx="1783816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Noto Sans KR"/>
              </a:rPr>
              <a:t>미식 및 상품 구매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" y="3909119"/>
            <a:ext cx="5190648" cy="200025"/>
          </a:xfrm>
          <a:prstGeom prst="rect">
            <a:avLst/>
          </a:prstGeom>
          <a:noFill/>
        </p:spPr>
        <p:txBody>
          <a:bodyPr wrap="square" lIns="118616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730A3"/>
                </a:solidFill>
                <a:latin typeface="Noto Sans KR"/>
              </a:rPr>
              <a:t>10~40대 청년층 (FIT) 페인포인트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" y="4204394"/>
            <a:ext cx="4943475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334155"/>
                </a:solidFill>
                <a:latin typeface="Noto Sans KR"/>
              </a:rPr>
              <a:t>"SNS에서 본 이색 로컬 장소에 가고 싶지만, KTX역에 내린 후 목적지까지 버스 시간표나 외국어 예약 시스템이 없어서 포기하게 됩니다."</a:t>
            </a:r>
            <a:r>
              <a:t>
</a:t>
            </a:r>
            <a:r>
              <a:rPr b="1" sz="1050" i="0" u="none">
                <a:solidFill>
                  <a:srgbClr val="4F46E5"/>
                </a:solidFill>
                <a:latin typeface="Noto Sans KR"/>
              </a:rPr>
              <a:t>→ 연계 교통 마찰 지수 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6525" y="3909119"/>
            <a:ext cx="5190648" cy="200025"/>
          </a:xfrm>
          <a:prstGeom prst="rect">
            <a:avLst/>
          </a:prstGeom>
          <a:noFill/>
        </p:spPr>
        <p:txBody>
          <a:bodyPr wrap="square" lIns="118616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2400E"/>
                </a:solidFill>
                <a:latin typeface="Noto Sans KR"/>
              </a:rPr>
              <a:t>50~90대 중년층 페인포인트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6525" y="4204394"/>
            <a:ext cx="4943475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334155"/>
                </a:solidFill>
                <a:latin typeface="Noto Sans KR"/>
              </a:rPr>
              <a:t>"역사와 자연을 쾌적하게 즐기고 싶지만, 장거리 이동 시 피로도가 높고 보행 편의시설 및 다국어 안내가 턱없이 부족합니다."</a:t>
            </a:r>
            <a:r>
              <a:t>
</a:t>
            </a:r>
            <a:r>
              <a:rPr b="1" sz="1050" i="0" u="none">
                <a:solidFill>
                  <a:srgbClr val="D97706"/>
                </a:solidFill>
                <a:latin typeface="Noto Sans KR"/>
              </a:rPr>
              <a:t>→ 이동 피로도 &amp; 보행/편의시설 결여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" y="3928169"/>
            <a:ext cx="118616" cy="1524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6525" y="3928169"/>
            <a:ext cx="118616" cy="1524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23875" y="428625"/>
            <a:ext cx="111442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Noto Sans KR ExtraBold"/>
              </a:rPr>
              <a:t>관광 여정 퍼널(Funnel) 병목 요인 분석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3875" y="847725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609850"/>
            <a:ext cx="5457825" cy="2295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609850"/>
            <a:ext cx="5457825" cy="2295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6381750"/>
            <a:ext cx="1114425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8912" y="495300"/>
            <a:ext cx="1319212" cy="28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3875" y="6505575"/>
            <a:ext cx="235178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Medium"/>
              </a:rPr>
              <a:t>Bridging the Korean Regional Tourism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5665" y="6505575"/>
            <a:ext cx="39245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Medium"/>
              </a:rPr>
              <a:t>Page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009900"/>
            <a:ext cx="49815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730A3"/>
                </a:solidFill>
                <a:latin typeface="Noto Sans KR"/>
              </a:rPr>
              <a:t>수도권 편중율 (Seoul Metro Area)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305175"/>
            <a:ext cx="49815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b="0" sz="4800" i="0" u="none">
                <a:solidFill>
                  <a:srgbClr val="4F46E5"/>
                </a:solidFill>
                <a:latin typeface="Plus Jakarta Sans Black"/>
              </a:rPr>
              <a:t>50%+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048125"/>
            <a:ext cx="49815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125" i="0" u="none">
                <a:solidFill>
                  <a:srgbClr val="334155"/>
                </a:solidFill>
                <a:latin typeface="Noto Sans KR"/>
              </a:rPr>
              <a:t>전체 방한 외래객 방문자 수 및 신용카드 소비액의 절반 이상이 수도권에 집중되어 지방 도시 기회가 차단됨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4466" y="2847975"/>
            <a:ext cx="4745533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Noto Sans KR"/>
              </a:rPr>
              <a:t>수용 태세 인프라 격차 (Readiness Gap)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4505325"/>
            <a:ext cx="49815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0" sz="900" i="0" u="none">
                <a:solidFill>
                  <a:srgbClr val="94A3B8"/>
                </a:solidFill>
                <a:latin typeface="Plus Jakarta Sans"/>
              </a:rPr>
              <a:t>Data Source: 한국관광공사 API &amp; 공공데이터포털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8425" y="2881312"/>
            <a:ext cx="140791" cy="1809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96075" y="3209925"/>
            <a:ext cx="47339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Noto Sans KR"/>
              </a:rPr>
              <a:t>수용 태세 인프라:</a:t>
            </a:r>
            <a:r>
              <a:rPr b="0" sz="1125" i="0" u="none">
                <a:solidFill>
                  <a:srgbClr val="334155"/>
                </a:solidFill>
                <a:latin typeface="Noto Sans KR"/>
              </a:rPr>
              <a:t> 다국어 가이드, 정보 접근성, 교통 편의성 등 60% 이상이 수도권 집중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6075" y="3752850"/>
            <a:ext cx="473392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Noto Sans KR"/>
              </a:rPr>
              <a:t>지방 도시 평균:</a:t>
            </a:r>
            <a:r>
              <a:rPr b="0" sz="1125" i="0" u="none">
                <a:solidFill>
                  <a:srgbClr val="334155"/>
                </a:solidFill>
                <a:latin typeface="Noto Sans KR"/>
              </a:rPr>
              <a:t> 지방 도시는 평균 인프라 수치가 </a:t>
            </a:r>
            <a:r>
              <a:rPr b="1" sz="1125" i="0" u="none">
                <a:solidFill>
                  <a:srgbClr val="334155"/>
                </a:solidFill>
                <a:latin typeface="Noto Sans KR"/>
              </a:rPr>
              <a:t>48.2개</a:t>
            </a:r>
            <a:r>
              <a:rPr b="0" sz="1125" i="0" u="none">
                <a:solidFill>
                  <a:srgbClr val="334155"/>
                </a:solidFill>
                <a:latin typeface="Noto Sans KR"/>
              </a:rPr>
              <a:t>로 현저히 미흡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6075" y="4081462"/>
            <a:ext cx="473392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Noto Sans KR"/>
              </a:rPr>
              <a:t>결과:</a:t>
            </a:r>
            <a:r>
              <a:rPr b="0" sz="1125" i="0" u="none">
                <a:solidFill>
                  <a:srgbClr val="334155"/>
                </a:solidFill>
                <a:latin typeface="Noto Sans KR"/>
              </a:rPr>
              <a:t> 정보 불투명성과 이동 마찰로 인해 지방 관광 포기 발생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875" y="428625"/>
            <a:ext cx="111442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Noto Sans KR ExtraBold"/>
              </a:rPr>
              <a:t>수도권 집중 현상 및 수용 태세 인프라 격차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3875" y="847725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425" y="3228975"/>
            <a:ext cx="103733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425" y="3771900"/>
            <a:ext cx="103733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425" y="4100512"/>
            <a:ext cx="103733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4514850"/>
            <a:ext cx="857250" cy="47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6353175"/>
            <a:ext cx="11144250" cy="295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3875" y="6477000"/>
            <a:ext cx="667494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 Medium"/>
              </a:rPr>
              <a:t>3. 분석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5665" y="6491287"/>
            <a:ext cx="39245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 Medium"/>
              </a:rPr>
              <a:t>Page 8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295525"/>
            <a:ext cx="1368772" cy="32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2847975"/>
            <a:ext cx="2707057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75"/>
              </a:lnSpc>
            </a:pPr>
            <a:r>
              <a:rPr b="0" sz="3900" i="0" u="none">
                <a:solidFill>
                  <a:srgbClr val="0F172A"/>
                </a:solidFill>
                <a:latin typeface="Noto Sans KR Black"/>
              </a:rPr>
              <a:t>3. 분석 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638550"/>
            <a:ext cx="71437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Noto Sans KR"/>
              </a:rPr>
              <a:t>관심도와 방문도를 체계적으로 진단하기 위한 2x2 매트릭스 프레임워크 및 대시보드 지표 체계를 정립합니다.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2142083"/>
            <a:ext cx="5457825" cy="323105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427958"/>
            <a:ext cx="5457825" cy="11001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2265908"/>
            <a:ext cx="5210175" cy="298340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6381750"/>
            <a:ext cx="1114425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7467" y="495300"/>
            <a:ext cx="970657" cy="28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6505575"/>
            <a:ext cx="235178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Medium"/>
              </a:rPr>
              <a:t>Bridging the Korean Regional Tourism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5665" y="6505575"/>
            <a:ext cx="39245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Medium"/>
              </a:rPr>
              <a:t>Page 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23875" y="2142083"/>
          <a:ext cx="5438773" cy="1133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410295"/>
                <a:gridCol w="2083593"/>
                <a:gridCol w="1944885"/>
              </a:tblGrid>
              <a:tr h="37782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축 (Axis)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측정 지표 (Metrics)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1F5F9"/>
                          </a:solidFill>
                          <a:latin typeface="Pretendard"/>
                        </a:defRPr>
                      </a:pPr>
                      <a:r>
                        <a:t>수집 데이터 출처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>
                        <a:defRPr sz="1000">
                          <a:latin typeface="Pretendard"/>
                        </a:defRPr>
                      </a:pPr>
                      <a:r>
                        <a:t>X축: 온라인 관심도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Pretendard"/>
                        </a:defRPr>
                      </a:pPr>
                      <a:r>
                        <a:t>SNS 언급량 기준 (글로벌 OTA/SNS 언급 지수)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Pretendard"/>
                        </a:defRPr>
                      </a:pPr>
                      <a:r>
                        <a:t>Klook, GetYourGuide, 크롤링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>
                        <a:defRPr sz="1000">
                          <a:latin typeface="Pretendard"/>
                        </a:defRPr>
                      </a:pPr>
                      <a:r>
                        <a:t>Y축: 오프라인 방문도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Pretendard"/>
                        </a:defRPr>
                      </a:pPr>
                      <a:r>
                        <a:t>내비게이션 검색건수 (실제 방문도 지수)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Pretendard"/>
                        </a:defRPr>
                      </a:pPr>
                      <a:r>
                        <a:t>한국관광공사 ODCloud API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62000" y="3666083"/>
            <a:ext cx="5230653" cy="180975"/>
          </a:xfrm>
          <a:prstGeom prst="rect">
            <a:avLst/>
          </a:prstGeom>
          <a:noFill/>
        </p:spPr>
        <p:txBody>
          <a:bodyPr wrap="square" lIns="111174" rIns="0" tIns="0" bIns="0" anchor="t">
            <a:spAutoFit/>
          </a:bodyPr>
          <a:lstStyle/>
          <a:p>
            <a:pPr>
              <a:defRPr b="1" sz="1300">
                <a:solidFill>
                  <a:srgbClr val="1E293B"/>
                </a:solidFill>
                <a:latin typeface="Pretendard"/>
              </a:defRPr>
            </a:pPr>
            <a:r>
              <a:t>시군구별 4대 사분면 (2x2) 온-오프라인 진단 현황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904208"/>
            <a:ext cx="4981575" cy="1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8"/>
              </a:lnSpc>
              <a:spcAft>
                <a:spcPts val="600"/>
              </a:spcAft>
              <a:defRPr sz="1050">
                <a:latin typeface="Pretendard"/>
              </a:defRPr>
            </a:pPr>
            <a:r>
              <a:rPr b="1">
                <a:solidFill>
                  <a:srgbClr val="DC2626"/>
                </a:solidFill>
              </a:rPr>
              <a:t>• 스타 (고관심·고방문): </a:t>
            </a:r>
            <a:r>
              <a:rPr b="0">
                <a:solidFill>
                  <a:srgbClr val="334155"/>
                </a:solidFill>
              </a:rPr>
              <a:t>인천 중구, 경기 성남시 (유입 거점 도시)</a:t>
            </a:r>
          </a:p>
          <a:p>
            <a:pPr>
              <a:spcAft>
                <a:spcPts val="600"/>
              </a:spcAft>
              <a:defRPr sz="1050">
                <a:latin typeface="Pretendard"/>
              </a:defRPr>
            </a:pPr>
            <a:r>
              <a:rPr b="1">
                <a:solidFill>
                  <a:srgbClr val="2563EB"/>
                </a:solidFill>
              </a:rPr>
              <a:t>• 잠재 (고관심·저방문): </a:t>
            </a:r>
            <a:r>
              <a:rPr b="0">
                <a:solidFill>
                  <a:srgbClr val="334155"/>
                </a:solidFill>
              </a:rPr>
              <a:t>강원 춘천·속초·강릉, 경북 경주, 전북 전주, 인천 연수구, 경기 가평군 (★ Drop-off 핵심 개선 타겟)</a:t>
            </a:r>
          </a:p>
          <a:p>
            <a:pPr>
              <a:spcAft>
                <a:spcPts val="600"/>
              </a:spcAft>
              <a:defRPr sz="1050">
                <a:latin typeface="Pretendard"/>
              </a:defRPr>
            </a:pPr>
            <a:r>
              <a:rPr b="1">
                <a:solidFill>
                  <a:srgbClr val="0284C7"/>
                </a:solidFill>
              </a:rPr>
              <a:t>• 안정 (저관심·고방문): </a:t>
            </a:r>
            <a:r>
              <a:rPr b="0">
                <a:solidFill>
                  <a:srgbClr val="334155"/>
                </a:solidFill>
              </a:rPr>
              <a:t>경기 용인·고양·수원·화성·남양주·파주, 충북 청주시 (글로벌 마케팅 강화 필요)</a:t>
            </a:r>
          </a:p>
          <a:p>
            <a:pPr>
              <a:spcAft>
                <a:spcPts val="600"/>
              </a:spcAft>
              <a:defRPr sz="1050">
                <a:latin typeface="Pretendard"/>
              </a:defRPr>
            </a:pPr>
            <a:r>
              <a:rPr b="1">
                <a:solidFill>
                  <a:srgbClr val="64748B"/>
                </a:solidFill>
              </a:rPr>
              <a:t>• 일반 (저관심·저방문): </a:t>
            </a:r>
            <a:r>
              <a:rPr b="0">
                <a:solidFill>
                  <a:srgbClr val="334155"/>
                </a:solidFill>
              </a:rPr>
              <a:t>경남 창원시, 충남 천안시 (콘텐츠/인프라 기초 개편 필요)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4125" y="2265908"/>
            <a:ext cx="5210175" cy="298340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33400" y="2904083"/>
            <a:ext cx="141029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3695" y="2904083"/>
            <a:ext cx="208359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27289" y="2904083"/>
            <a:ext cx="194488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3685133"/>
            <a:ext cx="111174" cy="1428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23875" y="428625"/>
            <a:ext cx="111442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Noto Sans KR"/>
              </a:rPr>
              <a:t>2x2 Matrix: 시군구별 온-오프라인 진단 모델 (app.py 대시보드)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3875" y="847725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612231"/>
            <a:ext cx="5457825" cy="22907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612231"/>
            <a:ext cx="5457825" cy="22907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6381750"/>
            <a:ext cx="1114425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7467" y="495300"/>
            <a:ext cx="970657" cy="28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3875" y="6505575"/>
            <a:ext cx="235178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Medium"/>
              </a:rPr>
              <a:t>Bridging the Korean Regional Tourism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6757" y="6505575"/>
            <a:ext cx="461367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Medium"/>
              </a:rPr>
              <a:t>Page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8041" y="2888456"/>
            <a:ext cx="4745533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Noto Sans KR"/>
              </a:rPr>
              <a:t>대시보드 장기 모니터링 지표 (실시간/시계열)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4466" y="2888456"/>
            <a:ext cx="4745533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Noto Sans KR"/>
              </a:rPr>
              <a:t>보고서 심층 진단 지표 (Ad-hoc)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2921793"/>
            <a:ext cx="140791" cy="1809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9650" y="3250406"/>
            <a:ext cx="473392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Noto Sans KR"/>
              </a:rPr>
              <a:t>월별 방한 외래객 추이:</a:t>
            </a:r>
            <a:r>
              <a:rPr b="0" sz="1125" i="0" u="none">
                <a:solidFill>
                  <a:srgbClr val="334155"/>
                </a:solidFill>
                <a:latin typeface="Noto Sans KR"/>
              </a:rPr>
              <a:t> ODCloud 연동, 연령/국적별 유입 트렌드 추적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" y="3579018"/>
            <a:ext cx="47339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Noto Sans KR"/>
              </a:rPr>
              <a:t>관심도-방문도 2x2 매트릭스:</a:t>
            </a:r>
            <a:r>
              <a:rPr b="0" sz="1125" i="0" u="none">
                <a:solidFill>
                  <a:srgbClr val="334155"/>
                </a:solidFill>
                <a:latin typeface="Noto Sans KR"/>
              </a:rPr>
              <a:t> 지자체별 사분면 위치 정규화 실시간 업데이트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650" y="4121943"/>
            <a:ext cx="47339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Noto Sans KR"/>
              </a:rPr>
              <a:t>OTA 플랫폼 평점 &amp; 리뷰:</a:t>
            </a:r>
            <a:r>
              <a:rPr b="0" sz="1125" i="0" u="none">
                <a:solidFill>
                  <a:srgbClr val="334155"/>
                </a:solidFill>
                <a:latin typeface="Noto Sans KR"/>
              </a:rPr>
              <a:t> Klook, GetYourGuide 등 상품 수 및 평점 증감 감시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425" y="2921793"/>
            <a:ext cx="140791" cy="1809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96075" y="3250406"/>
            <a:ext cx="47339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Noto Sans KR"/>
              </a:rPr>
              <a:t>관심-방문 격차 지수 (Gap Index):</a:t>
            </a:r>
            <a:r>
              <a:rPr b="0" sz="1125" i="0" u="none">
                <a:solidFill>
                  <a:srgbClr val="334155"/>
                </a:solidFill>
                <a:latin typeface="Noto Sans KR"/>
              </a:rPr>
              <a:t> [관심도 랭킹 - 방문도 랭킹] 잠재 도시 선별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6075" y="3793331"/>
            <a:ext cx="473392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Noto Sans KR"/>
              </a:rPr>
              <a:t>인프라 5대 지표 레이더 분석:</a:t>
            </a:r>
            <a:r>
              <a:rPr b="0" sz="1125" i="0" u="none">
                <a:solidFill>
                  <a:srgbClr val="334155"/>
                </a:solidFill>
                <a:latin typeface="Noto Sans KR"/>
              </a:rPr>
              <a:t> 성공 도시 vs 잠재 도시 간 인프라 갭 도출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6075" y="4121943"/>
            <a:ext cx="473392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Noto Sans KR"/>
              </a:rPr>
              <a:t>관광지 TITLE TF-IDF 키워드:</a:t>
            </a:r>
            <a:r>
              <a:rPr b="0" sz="1125" i="0" u="none">
                <a:solidFill>
                  <a:srgbClr val="334155"/>
                </a:solidFill>
                <a:latin typeface="Noto Sans KR"/>
              </a:rPr>
              <a:t> 로컬 홍보 테마 진단을 위한 텍스트 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875" y="428625"/>
            <a:ext cx="111442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Noto Sans KR ExtraBold"/>
              </a:rPr>
              <a:t>대시보드 모니터링 vs 보고서 심층 진단 지표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3875" y="847725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3269456"/>
            <a:ext cx="103733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3598068"/>
            <a:ext cx="103733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4140993"/>
            <a:ext cx="103733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3269456"/>
            <a:ext cx="103733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3812381"/>
            <a:ext cx="103733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4140993"/>
            <a:ext cx="103733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4514850"/>
            <a:ext cx="857250" cy="47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6353175"/>
            <a:ext cx="11144250" cy="295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3875" y="6477000"/>
            <a:ext cx="1073348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 Medium"/>
              </a:rPr>
              <a:t>4. 분석 결과 시각화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15985" y="6491287"/>
            <a:ext cx="45213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 Medium"/>
              </a:rPr>
              <a:t>Page 11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295525"/>
            <a:ext cx="1368772" cy="32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2847975"/>
            <a:ext cx="436367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75"/>
              </a:lnSpc>
            </a:pPr>
            <a:r>
              <a:rPr b="0" sz="3900" i="0" u="none">
                <a:solidFill>
                  <a:srgbClr val="0F172A"/>
                </a:solidFill>
                <a:latin typeface="Noto Sans KR Black"/>
              </a:rPr>
              <a:t>4. 분석 결과 시각화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638550"/>
            <a:ext cx="71437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Noto Sans KR"/>
              </a:rPr>
              <a:t>사분면 매트릭스를 활용하여 성공 도시와 전환 병목 도시(The Gap Zone)의 실측 분석 결과를 시각화합니다.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900237"/>
            <a:ext cx="11144250" cy="3714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2081212"/>
            <a:ext cx="5314950" cy="1600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081212"/>
            <a:ext cx="5314950" cy="1600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3833812"/>
            <a:ext cx="5314950" cy="1600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3833812"/>
            <a:ext cx="5314950" cy="1600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6381750"/>
            <a:ext cx="1114425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4533" y="495300"/>
            <a:ext cx="1353591" cy="285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3875" y="6505575"/>
            <a:ext cx="235178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Medium"/>
              </a:rPr>
              <a:t>Bridging the Korean Regional Tourism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6757" y="6505575"/>
            <a:ext cx="461367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Medium"/>
              </a:rPr>
              <a:t>Page 12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450" y="2309812"/>
            <a:ext cx="4857750" cy="2571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3450" y="3281362"/>
            <a:ext cx="4857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Noto Sans KR"/>
              </a:rPr>
              <a:t>비즈니스/특수 목적 방문 중심 도시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81362"/>
            <a:ext cx="4857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5803D"/>
                </a:solidFill>
                <a:latin typeface="Noto Sans KR"/>
              </a:rPr>
              <a:t>풍부한 이동 인프라와 높은 인지도 보유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450" y="4062412"/>
            <a:ext cx="4857750" cy="2571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33450" y="5033962"/>
            <a:ext cx="4857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Noto Sans KR"/>
              </a:rPr>
              <a:t>관심도와 방문도 모두 낮음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033962"/>
            <a:ext cx="48577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BE123C"/>
                </a:solidFill>
                <a:latin typeface="Noto Sans KR SemiBold"/>
              </a:rPr>
              <a:t>SNS/검색 관심도는 최상위권이나, 카드 소비 및 체류시간 등 방문 성과는 현저히 낮음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2309812"/>
            <a:ext cx="2557164" cy="2571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0800" y="2643187"/>
            <a:ext cx="510063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66534"/>
                </a:solidFill>
                <a:latin typeface="Noto Sans KR"/>
              </a:rPr>
              <a:t>서울, 부산, 제주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4062412"/>
            <a:ext cx="2303115" cy="2571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0" y="4395787"/>
            <a:ext cx="510063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91B1B"/>
                </a:solidFill>
                <a:latin typeface="Noto Sans KR"/>
              </a:rPr>
              <a:t>경주, 안동, 평창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875" y="428625"/>
            <a:ext cx="111442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Noto Sans KR ExtraBold"/>
              </a:rPr>
              <a:t>관심도 vs 방문도 사분면 공간 분포 분석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3875" y="847725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4514850"/>
            <a:ext cx="857250" cy="47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6353175"/>
            <a:ext cx="11144250" cy="295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3875" y="6477000"/>
            <a:ext cx="633114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 Medium"/>
              </a:rPr>
              <a:t>5. 인사이트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6757" y="6491287"/>
            <a:ext cx="461367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 Medium"/>
              </a:rPr>
              <a:t>Page 13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295525"/>
            <a:ext cx="1368772" cy="32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2847975"/>
            <a:ext cx="257454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75"/>
              </a:lnSpc>
            </a:pPr>
            <a:r>
              <a:rPr b="0" sz="3900" i="0" u="none">
                <a:solidFill>
                  <a:srgbClr val="0F172A"/>
                </a:solidFill>
                <a:latin typeface="Noto Sans KR Black"/>
              </a:rPr>
              <a:t>5. 인사이트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638550"/>
            <a:ext cx="71437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Noto Sans KR"/>
              </a:rPr>
              <a:t>실측 데이터 분석을 통해 도출한 핵심 수용 태세 한계와 전략적 시사점(Finding &amp; So What)을 정리합니다.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942332"/>
            <a:ext cx="3587650" cy="16304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025" y="2942332"/>
            <a:ext cx="3587799" cy="16304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0325" y="2942332"/>
            <a:ext cx="3587650" cy="16304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6381750"/>
            <a:ext cx="1114425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6191" y="495300"/>
            <a:ext cx="941933" cy="28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6505575"/>
            <a:ext cx="235178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Medium"/>
              </a:rPr>
              <a:t>Bridging the Korean Regional Tourism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6757" y="6505575"/>
            <a:ext cx="461367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Medium"/>
              </a:rPr>
              <a:t>Page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180457"/>
            <a:ext cx="31114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F46E5"/>
                </a:solidFill>
                <a:latin typeface="Plus Jakarta Sans ExtraBold"/>
              </a:rPr>
              <a:t>INSIGHT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380482"/>
            <a:ext cx="326697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Noto Sans KR"/>
              </a:rPr>
              <a:t>관문 도착 후 2차 교통 마찰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694807"/>
            <a:ext cx="31114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Noto Sans KR"/>
              </a:rPr>
              <a:t>KTX/관문 공항 도착 이후 최종 목적지까지의 대중교통 연계 미흡 및 모바일 외국어 예약 불가가 이탈의 가장 결정적인 원인임.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0150" y="3180457"/>
            <a:ext cx="3111549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F46E5"/>
                </a:solidFill>
                <a:latin typeface="Plus Jakarta Sans ExtraBold"/>
              </a:rPr>
              <a:t>INSIGHT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0150" y="3380482"/>
            <a:ext cx="326712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Noto Sans KR"/>
              </a:rPr>
              <a:t>대도시 모방 인프라의 한계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0150" y="3694807"/>
            <a:ext cx="3111549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Noto Sans KR"/>
              </a:rPr>
              <a:t>지방 도시가 대도시 수준의 물리적 인프라(세계 음식점, 외국어 시설)를 단기간 구축하는 것은 비현실적이며 킬러 콘텐츠 중심 접근이 필요함.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8450" y="3180457"/>
            <a:ext cx="31114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4F46E5"/>
                </a:solidFill>
                <a:latin typeface="Plus Jakarta Sans ExtraBold"/>
              </a:rPr>
              <a:t>INSIGHT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8450" y="3380482"/>
            <a:ext cx="326697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Noto Sans KR"/>
              </a:rPr>
              <a:t>OTA 상품의 단조로움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8450" y="3694807"/>
            <a:ext cx="311140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475569"/>
                </a:solidFill>
                <a:latin typeface="Noto Sans KR"/>
              </a:rPr>
              <a:t>현재 지방 상품이 '중저가 당일 투어'에 집중되어 1인당 지출액(ARPU) 증대에 한계가 있으며, 연령별 맞춤 상품이 부족함.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875" y="428625"/>
            <a:ext cx="111442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Noto Sans KR ExtraBold"/>
              </a:rPr>
              <a:t>핵심 발견 사항 및 전략적 시사점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3875" y="847725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4514850"/>
            <a:ext cx="857250" cy="47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6353175"/>
            <a:ext cx="11144250" cy="295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3875" y="6477000"/>
            <a:ext cx="1046112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 Medium"/>
              </a:rPr>
              <a:t>6. 전략 Action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6757" y="6491287"/>
            <a:ext cx="461367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 Medium"/>
              </a:rPr>
              <a:t>Page 15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295525"/>
            <a:ext cx="1368772" cy="32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2847975"/>
            <a:ext cx="4419458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75"/>
              </a:lnSpc>
            </a:pPr>
            <a:r>
              <a:rPr b="0" sz="3900" i="0" u="none">
                <a:solidFill>
                  <a:srgbClr val="0F172A"/>
                </a:solidFill>
                <a:latin typeface="Noto Sans KR Black"/>
              </a:rPr>
              <a:t>6. 전략 Action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638550"/>
            <a:ext cx="71437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Noto Sans KR"/>
              </a:rPr>
              <a:t>전환 병목 현상을 해소하고 지방 관광을 활성화하기 위한 3대 핵심 추진 전략을 제안합니다.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3714750"/>
            <a:ext cx="11144250" cy="1447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352675"/>
            <a:ext cx="3587650" cy="1171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2025" y="2352675"/>
            <a:ext cx="3587799" cy="1171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0325" y="2352675"/>
            <a:ext cx="3587650" cy="11715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6381750"/>
            <a:ext cx="1114425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5426" y="495300"/>
            <a:ext cx="1352698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3875" y="6505575"/>
            <a:ext cx="235178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Medium"/>
              </a:rPr>
              <a:t>Bridging the Korean Regional Tourism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6757" y="6505575"/>
            <a:ext cx="461367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Medium"/>
              </a:rPr>
              <a:t>Page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952875"/>
            <a:ext cx="11161395" cy="219075"/>
          </a:xfrm>
          <a:prstGeom prst="rect">
            <a:avLst/>
          </a:prstGeom>
          <a:noFill/>
        </p:spPr>
        <p:txBody>
          <a:bodyPr wrap="square" lIns="126057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Noto Sans KR"/>
              </a:rPr>
              <a:t>세부 실행 과제 (Action Item)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590800"/>
            <a:ext cx="31114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Noto Sans KR"/>
              </a:rPr>
              <a:t>[Finding: 발견]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809875"/>
            <a:ext cx="3111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Noto Sans KR"/>
              </a:rPr>
              <a:t>경주, 안동 등 잠재 도시의 오프라인 소비/체류 전환율 저하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0150" y="2590800"/>
            <a:ext cx="3111549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Noto Sans KR"/>
              </a:rPr>
              <a:t>[So What: 의미]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0150" y="2809875"/>
            <a:ext cx="3111549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Noto Sans KR"/>
              </a:rPr>
              <a:t>관문 도착 후 목적지까지의 교통 마찰과 현지 안내 부족이 핵심 원인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8450" y="2590800"/>
            <a:ext cx="31114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40AF"/>
                </a:solidFill>
                <a:latin typeface="Noto Sans KR"/>
              </a:rPr>
              <a:t>[Now What: 전략]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8450" y="2809875"/>
            <a:ext cx="3111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3A8A"/>
                </a:solidFill>
                <a:latin typeface="Noto Sans KR"/>
              </a:rPr>
              <a:t>원스톱 교통 패스 &amp; 모바일 다국어 도슨트 구축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3981450"/>
            <a:ext cx="126057" cy="1619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47750" y="4267200"/>
            <a:ext cx="1038225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Noto Sans KR"/>
              </a:rPr>
              <a:t>로컬 모빌리티 원스톱 패스:</a:t>
            </a:r>
            <a:r>
              <a:rPr b="0" sz="1125" i="0" u="none">
                <a:solidFill>
                  <a:srgbClr val="334155"/>
                </a:solidFill>
                <a:latin typeface="Noto Sans KR"/>
              </a:rPr>
              <a:t> KTX/관문공항 + 시내버스 + 셔틀버스 연계 외국어 예약/결제 통합 패스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750" y="4595812"/>
            <a:ext cx="1038225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Noto Sans KR"/>
              </a:rPr>
              <a:t>모바일 다국어 도슨트 가이드:</a:t>
            </a:r>
            <a:r>
              <a:rPr b="0" sz="1125" i="0" u="none">
                <a:solidFill>
                  <a:srgbClr val="334155"/>
                </a:solidFill>
                <a:latin typeface="Noto Sans KR"/>
              </a:rPr>
              <a:t> QR 코드 기반 이동 동선 안내 및 위치 기반 실시간 다국어 음성 도슨트 구축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875" y="428625"/>
            <a:ext cx="111442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Noto Sans KR ExtraBold"/>
              </a:rPr>
              <a:t>Strategy 01: 끊어진 여정을 잇는 로컬 모빌리티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3875" y="847725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4286250"/>
            <a:ext cx="103733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4614862"/>
            <a:ext cx="103733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1085850"/>
            <a:ext cx="5457825" cy="734317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1085850"/>
            <a:ext cx="5457825" cy="11790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5075" y="1190625"/>
            <a:ext cx="5248275" cy="713362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6381750"/>
            <a:ext cx="1114425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5426" y="495300"/>
            <a:ext cx="1352698" cy="28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6505575"/>
            <a:ext cx="235178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Medium"/>
              </a:rPr>
              <a:t>Bridging the Korean Regional Tourism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6757" y="6505575"/>
            <a:ext cx="461367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Medium"/>
              </a:rPr>
              <a:t>Page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323975"/>
            <a:ext cx="5230653" cy="200025"/>
          </a:xfrm>
          <a:prstGeom prst="rect">
            <a:avLst/>
          </a:prstGeom>
          <a:noFill/>
        </p:spPr>
        <p:txBody>
          <a:bodyPr wrap="square" lIns="118616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2400E"/>
                </a:solidFill>
                <a:latin typeface="Noto Sans KR"/>
              </a:rPr>
              <a:t>인프라 모방 탈피 → 미식 브랜드화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600200"/>
            <a:ext cx="498157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78350F"/>
                </a:solidFill>
                <a:latin typeface="Noto Sans KR"/>
              </a:rPr>
              <a:t>대도시 수준의 무분별한 서양식/외국식 음식점 유치는 비효율적입니다. 지역 고유 식재료와 스토리 중심의 </a:t>
            </a:r>
            <a:r>
              <a:rPr b="1" sz="1050" i="0" u="none">
                <a:solidFill>
                  <a:srgbClr val="78350F"/>
                </a:solidFill>
                <a:latin typeface="Noto Sans KR"/>
              </a:rPr>
              <a:t>'Local Gastronomy' 브랜드화</a:t>
            </a:r>
            <a:r>
              <a:rPr b="0" sz="1050" i="0" u="none">
                <a:solidFill>
                  <a:srgbClr val="78350F"/>
                </a:solidFill>
                <a:latin typeface="Noto Sans KR"/>
              </a:rPr>
              <a:t>에 집약 투자해야 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2417266"/>
            <a:ext cx="52101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Noto Sans KR"/>
              </a:rPr>
              <a:t>로컬 미식 체험 상품:</a:t>
            </a:r>
            <a:r>
              <a:rPr b="0" sz="1125" i="0" u="none">
                <a:solidFill>
                  <a:srgbClr val="334155"/>
                </a:solidFill>
                <a:latin typeface="Noto Sans KR"/>
              </a:rPr>
              <a:t> 종가집 한식, 전통주 다이닝, 시골 양조장 클래스 등 킬러 콘텐츠 개발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2960191"/>
            <a:ext cx="52101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Noto Sans KR"/>
              </a:rPr>
              <a:t>소수 정예 킬러 축제:</a:t>
            </a:r>
            <a:r>
              <a:rPr b="0" sz="1125" i="0" u="none">
                <a:solidFill>
                  <a:srgbClr val="334155"/>
                </a:solidFill>
                <a:latin typeface="Noto Sans KR"/>
              </a:rPr>
              <a:t> 지자체 양적 행사 지양, 외래객 만족도 높은 특화 축제에 행정력 집중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5075" y="1190625"/>
            <a:ext cx="5248275" cy="7133629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343025"/>
            <a:ext cx="118616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3875" y="428625"/>
            <a:ext cx="111442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Noto Sans KR ExtraBold"/>
              </a:rPr>
              <a:t>Strategy 02: 뻔한 인프라를 넘어서는 로컬 미식 브랜드화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3875" y="847725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875" y="2436316"/>
            <a:ext cx="103733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875" y="2979241"/>
            <a:ext cx="103733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759868"/>
            <a:ext cx="5457825" cy="19954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759868"/>
            <a:ext cx="5457825" cy="19954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6381750"/>
            <a:ext cx="1114425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5426" y="495300"/>
            <a:ext cx="1352698" cy="28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3875" y="6505575"/>
            <a:ext cx="235178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Medium"/>
              </a:rPr>
              <a:t>Bridging the Korean Regional Tourism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6757" y="6505575"/>
            <a:ext cx="461367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Medium"/>
              </a:rPr>
              <a:t>Page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036093"/>
            <a:ext cx="49815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3730A3"/>
                </a:solidFill>
                <a:latin typeface="Plus Jakarta Sans ExtraBold"/>
              </a:rPr>
              <a:t>TARGET 01. 2040 청년층 (FIT)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283743"/>
            <a:ext cx="5230653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Noto Sans KR"/>
              </a:rPr>
              <a:t>개별 체험 &amp; 로컬 감성 상품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425" y="3036093"/>
            <a:ext cx="49815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66534"/>
                </a:solidFill>
                <a:latin typeface="Plus Jakarta Sans ExtraBold"/>
              </a:rPr>
              <a:t>TARGET 02. 5090 중년층 (휴양)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8425" y="3283743"/>
            <a:ext cx="5230653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Noto Sans KR"/>
              </a:rPr>
              <a:t>프리미엄 힐링 &amp; 고단가 체류형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" y="3645693"/>
            <a:ext cx="473392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Noto Sans KR"/>
              </a:rPr>
              <a:t>로컬 감성 숙소 결합 패키지:</a:t>
            </a:r>
            <a:r>
              <a:rPr b="0" sz="1125" i="0" u="none">
                <a:solidFill>
                  <a:srgbClr val="334155"/>
                </a:solidFill>
                <a:latin typeface="Noto Sans KR"/>
              </a:rPr>
              <a:t> 한옥 스테이, 감성 게스트하우스 연계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650" y="3974306"/>
            <a:ext cx="473392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Noto Sans KR"/>
              </a:rPr>
              <a:t>힙한 야경 &amp; 체험 리스팅:</a:t>
            </a:r>
            <a:r>
              <a:rPr b="0" sz="1125" i="0" u="none">
                <a:solidFill>
                  <a:srgbClr val="334155"/>
                </a:solidFill>
                <a:latin typeface="Noto Sans KR"/>
              </a:rPr>
              <a:t> 야간 트레킹, 인스타그래머블 로컬 체험 위주 OTA 입점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6075" y="3645693"/>
            <a:ext cx="473392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Noto Sans KR"/>
              </a:rPr>
              <a:t>고단가 체류형 투어:</a:t>
            </a:r>
            <a:r>
              <a:rPr b="0" sz="1125" i="0" u="none">
                <a:solidFill>
                  <a:srgbClr val="334155"/>
                </a:solidFill>
                <a:latin typeface="Noto Sans KR"/>
              </a:rPr>
              <a:t> 프리미엄 힐링, 전통 문화, 전용 차량 보장 상품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6075" y="3974306"/>
            <a:ext cx="473392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Noto Sans KR"/>
              </a:rPr>
              <a:t>편안한 이동 가런티:</a:t>
            </a:r>
            <a:r>
              <a:rPr b="0" sz="1125" i="0" u="none">
                <a:solidFill>
                  <a:srgbClr val="334155"/>
                </a:solidFill>
                <a:latin typeface="Noto Sans KR"/>
              </a:rPr>
              <a:t> 장거리 피로도를 줄여주는 프라이빗 리무진/셔틀 연계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875" y="428625"/>
            <a:ext cx="111442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Noto Sans KR ExtraBold"/>
              </a:rPr>
              <a:t>Strategy 03: 타겟 맞춤형 글로벌 OTA 세분화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3875" y="847725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664743"/>
            <a:ext cx="103733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993356"/>
            <a:ext cx="103733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8425" y="3664743"/>
            <a:ext cx="103733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8425" y="3993356"/>
            <a:ext cx="103733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4514850"/>
            <a:ext cx="857250" cy="47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6353175"/>
            <a:ext cx="11144250" cy="295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3875" y="6477000"/>
            <a:ext cx="385464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 Medium"/>
              </a:rPr>
              <a:t>7.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6757" y="6491287"/>
            <a:ext cx="461367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 Medium"/>
              </a:rPr>
              <a:t>Page 19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295525"/>
            <a:ext cx="1368772" cy="32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2847975"/>
            <a:ext cx="1558476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75"/>
              </a:lnSpc>
            </a:pPr>
            <a:r>
              <a:rPr b="0" sz="3900" i="0" u="none">
                <a:solidFill>
                  <a:srgbClr val="0F172A"/>
                </a:solidFill>
                <a:latin typeface="Noto Sans KR Black"/>
              </a:rPr>
              <a:t>7. 결론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638550"/>
            <a:ext cx="71437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Noto Sans KR"/>
              </a:rPr>
              <a:t>데이터 기반 해결 방향과 지속 가능한 로컬 관광을 위한 향후 시스템 고도화 로드맵을 제시합니다.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893540"/>
            <a:ext cx="11144250" cy="9847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068835"/>
            <a:ext cx="3587650" cy="2552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2025" y="3068835"/>
            <a:ext cx="3587799" cy="2552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0325" y="3068835"/>
            <a:ext cx="3587650" cy="2552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5069085"/>
            <a:ext cx="3111400" cy="3143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0150" y="5069085"/>
            <a:ext cx="3111549" cy="3143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8450" y="5069085"/>
            <a:ext cx="3111400" cy="3143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875" y="6381750"/>
            <a:ext cx="1114425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62382" y="495300"/>
            <a:ext cx="705742" cy="2857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3875" y="6505575"/>
            <a:ext cx="235178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Medium"/>
              </a:rPr>
              <a:t>Bridging the Korean Regional Tourism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6757" y="6505575"/>
            <a:ext cx="461367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Medium"/>
              </a:rPr>
              <a:t>Page 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2131665"/>
            <a:ext cx="11201400" cy="219075"/>
          </a:xfrm>
          <a:prstGeom prst="rect">
            <a:avLst/>
          </a:prstGeom>
          <a:noFill/>
        </p:spPr>
        <p:txBody>
          <a:bodyPr wrap="square" lIns="126057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1E3A8A"/>
                </a:solidFill>
                <a:latin typeface="Noto Sans KR"/>
              </a:rPr>
              <a:t>로컬 관광 활성화 단계별 이행 로드맵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2426940"/>
            <a:ext cx="10668000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1E40AF"/>
                </a:solidFill>
                <a:latin typeface="Noto Sans KR"/>
              </a:rPr>
              <a:t>단기 거점 다국어 컨시어지 및 글로벌 캠페인부터 중장기 결합형 로컬 패스 및 데이터 기반 스마트 관광 도시 육성까지 3단계 체계적 추진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2160240"/>
            <a:ext cx="126057" cy="1619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2000" y="3345060"/>
            <a:ext cx="3111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F46E5"/>
                </a:solidFill>
                <a:latin typeface="Plus Jakarta Sans ExtraBold"/>
              </a:rPr>
              <a:t>PHASE 1 (0~6개월)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573660"/>
            <a:ext cx="326697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Noto Sans KR"/>
              </a:rPr>
              <a:t>Quick Wins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0150" y="3345060"/>
            <a:ext cx="311154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EA5E9"/>
                </a:solidFill>
                <a:latin typeface="Plus Jakarta Sans ExtraBold"/>
              </a:rPr>
              <a:t>PHASE 2 (6~18개월)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0150" y="3573660"/>
            <a:ext cx="3267127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Noto Sans KR"/>
              </a:rPr>
              <a:t>Scale-up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8450" y="3345060"/>
            <a:ext cx="31114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0B981"/>
                </a:solidFill>
                <a:latin typeface="Plus Jakarta Sans ExtraBold"/>
              </a:rPr>
              <a:t>PHASE 3 (18개월~)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8450" y="3573660"/>
            <a:ext cx="326697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Noto Sans KR"/>
              </a:rPr>
              <a:t>Long-term 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9650" y="3887985"/>
            <a:ext cx="28637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Noto Sans KR"/>
              </a:rPr>
              <a:t>다국어 컨시어지 팝업:</a:t>
            </a:r>
            <a:r>
              <a:rPr b="0" sz="1125" i="0" u="none">
                <a:solidFill>
                  <a:srgbClr val="334155"/>
                </a:solidFill>
                <a:latin typeface="Noto Sans KR"/>
              </a:rPr>
              <a:t> 지방 주요 KTX역 거점 다국어 인포메이션 팝업 운영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9650" y="4430910"/>
            <a:ext cx="28637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Noto Sans KR"/>
              </a:rPr>
              <a:t>SNS 글로벌 캠페인:</a:t>
            </a:r>
            <a:r>
              <a:rPr b="0" sz="1125" i="0" u="none">
                <a:solidFill>
                  <a:srgbClr val="334155"/>
                </a:solidFill>
                <a:latin typeface="Noto Sans KR"/>
              </a:rPr>
              <a:t> 관심도 1위 키워드 연계 SNS 글로벌 마케팅 런칭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7800" y="3887985"/>
            <a:ext cx="286389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Noto Sans KR"/>
              </a:rPr>
              <a:t>로컬 패스 시범 도입:</a:t>
            </a:r>
            <a:r>
              <a:rPr b="0" sz="1125" i="0" u="none">
                <a:solidFill>
                  <a:srgbClr val="334155"/>
                </a:solidFill>
                <a:latin typeface="Noto Sans KR"/>
              </a:rPr>
              <a:t> 숨겨진 보석 도시 중심 교통-숙박 결합형 패스 도입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7800" y="4430910"/>
            <a:ext cx="2863899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Noto Sans KR"/>
              </a:rPr>
              <a:t>간편 결제 인센티브:</a:t>
            </a:r>
            <a:r>
              <a:rPr b="0" sz="1125" i="0" u="none">
                <a:solidFill>
                  <a:srgbClr val="334155"/>
                </a:solidFill>
                <a:latin typeface="Noto Sans KR"/>
              </a:rPr>
              <a:t> 로컬 상권 내 글로벌 결제 인프라 구축 지원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6100" y="3887985"/>
            <a:ext cx="28637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Noto Sans KR"/>
              </a:rPr>
              <a:t>스마트 관광 거점:</a:t>
            </a:r>
            <a:r>
              <a:rPr b="0" sz="1125" i="0" u="none">
                <a:solidFill>
                  <a:srgbClr val="334155"/>
                </a:solidFill>
                <a:latin typeface="Noto Sans KR"/>
              </a:rPr>
              <a:t> 데이터 기반 맞춤형 스마트 관광 거점 도시 육성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66100" y="4430910"/>
            <a:ext cx="28637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Noto Sans KR"/>
              </a:rPr>
              <a:t>지역 경제 선순환:</a:t>
            </a:r>
            <a:r>
              <a:rPr b="0" sz="1125" i="0" u="none">
                <a:solidFill>
                  <a:srgbClr val="334155"/>
                </a:solidFill>
                <a:latin typeface="Noto Sans KR"/>
              </a:rPr>
              <a:t> 인바운드 트래픽 정례화 및 지속 가능한 생태계 구축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875" y="428625"/>
            <a:ext cx="111442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Noto Sans KR ExtraBold"/>
              </a:rPr>
              <a:t>정책 및 비즈니스 제언: 단계별 실행 로드맵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3875" y="847725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3907035"/>
            <a:ext cx="103733" cy="1524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4449960"/>
            <a:ext cx="103733" cy="1524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40150" y="3907035"/>
            <a:ext cx="103733" cy="1524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40150" y="4449960"/>
            <a:ext cx="103733" cy="1524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18450" y="3907035"/>
            <a:ext cx="103733" cy="1524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18450" y="4449960"/>
            <a:ext cx="103733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4362450"/>
            <a:ext cx="857250" cy="47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6353175"/>
            <a:ext cx="11144250" cy="295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3875" y="6477000"/>
            <a:ext cx="128661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 Medium"/>
              </a:rPr>
              <a:t>8. 팀 역할(R&amp;R) &amp; 회고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6757" y="6491287"/>
            <a:ext cx="461367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 Medium"/>
              </a:rPr>
              <a:t>Page 21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447925"/>
            <a:ext cx="1368772" cy="32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3000375"/>
            <a:ext cx="52567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75"/>
              </a:lnSpc>
            </a:pPr>
            <a:r>
              <a:rPr b="0" sz="3900" i="0" u="none">
                <a:solidFill>
                  <a:srgbClr val="0F172A"/>
                </a:solidFill>
                <a:latin typeface="Noto Sans KR Black"/>
              </a:rPr>
              <a:t>8. 팀 역할(R&amp;R) &amp; 회고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3790950"/>
            <a:ext cx="658296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Noto Sans KR"/>
              </a:rPr>
              <a:t>프로젝트를 완수한 팀원들의 역할 분담(R&amp;R) 및 주요 회고 내용을 정리합니다.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635918"/>
            <a:ext cx="5457825" cy="42433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1635918"/>
            <a:ext cx="5457825" cy="42433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2274093"/>
            <a:ext cx="4981575" cy="1543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3912393"/>
            <a:ext cx="4981575" cy="1543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6381750"/>
            <a:ext cx="1114425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8358" y="495300"/>
            <a:ext cx="1229766" cy="285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3875" y="6505575"/>
            <a:ext cx="235178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Medium"/>
              </a:rPr>
              <a:t>Bridging the Korean Regional Tourism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6757" y="6505575"/>
            <a:ext cx="461367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 Medium"/>
              </a:rPr>
              <a:t>Page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8041" y="1912143"/>
            <a:ext cx="4745533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Noto Sans KR"/>
              </a:rPr>
              <a:t>프로젝트 팀 R&amp;R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62000" y="2274093"/>
          <a:ext cx="4962523" cy="33670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992385"/>
                <a:gridCol w="1389459"/>
                <a:gridCol w="2580679"/>
              </a:tblGrid>
              <a:tr h="673417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담당자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역할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Noto Sans KR"/>
                        </a:rPr>
                        <a:t>주요 수행 과제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673417">
                <a:tc>
                  <a:txBody>
                    <a:bodyPr/>
                    <a:lstStyle/>
                    <a:p>
                      <a:pPr algn="l"/>
                      <a:r>
                        <a:rPr b="1" sz="937" i="0" u="none">
                          <a:solidFill>
                            <a:srgbClr val="334155"/>
                          </a:solidFill>
                          <a:latin typeface="Noto Sans KR"/>
                        </a:rPr>
                        <a:t>조은아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37" i="0" u="none">
                          <a:solidFill>
                            <a:srgbClr val="4F46E5"/>
                          </a:solidFill>
                          <a:latin typeface="Noto Sans KR"/>
                        </a:rPr>
                        <a:t>데이터 분석 및</a:t>
                      </a:r>
                      <a:r>
                        <a:t>
</a:t>
                      </a:r>
                      <a:r>
                        <a:rPr b="1" sz="937" i="0" u="none">
                          <a:solidFill>
                            <a:srgbClr val="4F46E5"/>
                          </a:solidFill>
                          <a:latin typeface="Noto Sans KR"/>
                        </a:rPr>
                        <a:t>
            대시보드 구축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37" i="0" u="none">
                          <a:solidFill>
                            <a:srgbClr val="334155"/>
                          </a:solidFill>
                          <a:latin typeface="Noto Sans KR"/>
                        </a:rPr>
                        <a:t>• 외국인 관광객의 한국 지방도시에 대한 관심도 및 방문도 분석</a:t>
                      </a:r>
                      <a:r>
                        <a:t>
</a:t>
                      </a:r>
                      <a:r>
                        <a:rPr b="0" sz="937" i="0" u="none">
                          <a:solidFill>
                            <a:srgbClr val="334155"/>
                          </a:solidFill>
                          <a:latin typeface="Noto Sans KR"/>
                        </a:rPr>
                        <a:t>
            • 관심도와 방문도와의 상관관계 분석(gap)</a:t>
                      </a:r>
                      <a:r>
                        <a:t>
</a:t>
                      </a:r>
                      <a:r>
                        <a:rPr b="0" sz="937" i="0" u="none">
                          <a:solidFill>
                            <a:srgbClr val="334155"/>
                          </a:solidFill>
                          <a:latin typeface="Noto Sans KR"/>
                        </a:rPr>
                        <a:t>
            • 각 분석 주제 별 테스트 대시보드 구축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73417">
                <a:tc>
                  <a:txBody>
                    <a:bodyPr/>
                    <a:lstStyle/>
                    <a:p>
                      <a:pPr algn="l"/>
                      <a:r>
                        <a:rPr b="1" sz="937" i="0" u="none">
                          <a:solidFill>
                            <a:srgbClr val="334155"/>
                          </a:solidFill>
                          <a:latin typeface="Noto Sans KR"/>
                        </a:rPr>
                        <a:t>양가희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37" i="0" u="none">
                          <a:solidFill>
                            <a:srgbClr val="0EA5E9"/>
                          </a:solidFill>
                          <a:latin typeface="Noto Sans KR"/>
                        </a:rPr>
                        <a:t>데이터 분석 및</a:t>
                      </a:r>
                      <a:r>
                        <a:t>
</a:t>
                      </a:r>
                      <a:r>
                        <a:rPr b="1" sz="937" i="0" u="none">
                          <a:solidFill>
                            <a:srgbClr val="0EA5E9"/>
                          </a:solidFill>
                          <a:latin typeface="Noto Sans KR"/>
                        </a:rPr>
                        <a:t>
            대시보드 구축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37" i="0" u="none">
                          <a:solidFill>
                            <a:srgbClr val="334155"/>
                          </a:solidFill>
                          <a:latin typeface="Noto Sans KR"/>
                        </a:rPr>
                        <a:t>• 방한 외래 관광객 트렌드 분석</a:t>
                      </a:r>
                      <a:r>
                        <a:t>
</a:t>
                      </a:r>
                      <a:r>
                        <a:rPr b="0" sz="937" i="0" u="none">
                          <a:solidFill>
                            <a:srgbClr val="334155"/>
                          </a:solidFill>
                          <a:latin typeface="Noto Sans KR"/>
                        </a:rPr>
                        <a:t>
            • 지역별 관광 인프라 분석 및 관광 인사이트 도출</a:t>
                      </a:r>
                      <a:r>
                        <a:t>
</a:t>
                      </a:r>
                      <a:r>
                        <a:rPr b="0" sz="937" i="0" u="none">
                          <a:solidFill>
                            <a:srgbClr val="334155"/>
                          </a:solidFill>
                          <a:latin typeface="Noto Sans KR"/>
                        </a:rPr>
                        <a:t>
            • 각 분석 주제별 테스트 대시보드 구축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73417">
                <a:tc>
                  <a:txBody>
                    <a:bodyPr/>
                    <a:lstStyle/>
                    <a:p>
                      <a:pPr algn="l"/>
                      <a:r>
                        <a:rPr b="1" sz="937" i="0" u="none">
                          <a:solidFill>
                            <a:srgbClr val="334155"/>
                          </a:solidFill>
                          <a:latin typeface="Noto Sans KR"/>
                        </a:rPr>
                        <a:t>김헤림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37" i="0" u="none">
                          <a:solidFill>
                            <a:srgbClr val="D97706"/>
                          </a:solidFill>
                          <a:latin typeface="Noto Sans KR"/>
                        </a:rPr>
                        <a:t>OTA 데이터</a:t>
                      </a:r>
                      <a:r>
                        <a:t>
</a:t>
                      </a:r>
                      <a:r>
                        <a:rPr b="1" sz="937" i="0" u="none">
                          <a:solidFill>
                            <a:srgbClr val="D97706"/>
                          </a:solidFill>
                          <a:latin typeface="Noto Sans KR"/>
                        </a:rPr>
                        <a:t>
            크롤링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37" i="0" u="none">
                          <a:solidFill>
                            <a:srgbClr val="334155"/>
                          </a:solidFill>
                          <a:latin typeface="Noto Sans KR"/>
                        </a:rPr>
                        <a:t>• 주요 OTA 사이트 데이터 크롤링 작업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73419">
                <a:tc>
                  <a:txBody>
                    <a:bodyPr/>
                    <a:lstStyle/>
                    <a:p>
                      <a:pPr algn="l"/>
                      <a:r>
                        <a:rPr b="1" sz="937" i="0" u="none">
                          <a:solidFill>
                            <a:srgbClr val="334155"/>
                          </a:solidFill>
                          <a:latin typeface="Noto Sans KR"/>
                        </a:rPr>
                        <a:t>공동 작업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37" i="0" u="none">
                          <a:solidFill>
                            <a:srgbClr val="10B981"/>
                          </a:solidFill>
                          <a:latin typeface="Noto Sans KR"/>
                        </a:rPr>
                        <a:t>통합 대시보드 &amp;</a:t>
                      </a:r>
                      <a:r>
                        <a:t>
</a:t>
                      </a:r>
                      <a:r>
                        <a:rPr b="1" sz="937" i="0" u="none">
                          <a:solidFill>
                            <a:srgbClr val="10B981"/>
                          </a:solidFill>
                          <a:latin typeface="Noto Sans KR"/>
                        </a:rPr>
                        <a:t>
            결과 보고서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37" i="0" u="none">
                          <a:solidFill>
                            <a:srgbClr val="334155"/>
                          </a:solidFill>
                          <a:latin typeface="Noto Sans KR"/>
                        </a:rPr>
                        <a:t>• 각 주제별 대시보드 통합작업 진행</a:t>
                      </a:r>
                      <a:r>
                        <a:t>
</a:t>
                      </a:r>
                      <a:r>
                        <a:rPr b="0" sz="937" i="0" u="none">
                          <a:solidFill>
                            <a:srgbClr val="334155"/>
                          </a:solidFill>
                          <a:latin typeface="Noto Sans KR"/>
                        </a:rPr>
                        <a:t>
            • 프로젝트 분석 리포트 기반 결과 보고서 작업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684466" y="1912143"/>
            <a:ext cx="4745533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Noto Sans KR"/>
              </a:rPr>
              <a:t>8. 회고 (Retrospective)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945481"/>
            <a:ext cx="140791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8425" y="1945481"/>
            <a:ext cx="140791" cy="1809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48611" y="2397918"/>
            <a:ext cx="4538513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12" i="0" u="none">
                <a:solidFill>
                  <a:srgbClr val="3730A3"/>
                </a:solidFill>
                <a:latin typeface="Noto Sans KR ExtraBold"/>
              </a:rPr>
              <a:t>배운 점 (Learned)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611" y="4036218"/>
            <a:ext cx="4538513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012" i="0" u="none">
                <a:solidFill>
                  <a:srgbClr val="1E40AF"/>
                </a:solidFill>
                <a:latin typeface="Noto Sans KR ExtraBold"/>
              </a:rPr>
              <a:t>아쉬운 점 (Lacked) &amp; 개선점 (Loved)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1525" y="3540918"/>
            <a:ext cx="99238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3910" y="3540918"/>
            <a:ext cx="138945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53370" y="3540918"/>
            <a:ext cx="258067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1525" y="4407693"/>
            <a:ext cx="99238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63910" y="4407693"/>
            <a:ext cx="138945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53370" y="4407693"/>
            <a:ext cx="258067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1525" y="4931568"/>
            <a:ext cx="99238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63910" y="4931568"/>
            <a:ext cx="138945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53370" y="4931568"/>
            <a:ext cx="258067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1300" y="2419350"/>
            <a:ext cx="100161" cy="12858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38950" y="2607468"/>
            <a:ext cx="44481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Noto Sans KR"/>
              </a:rPr>
              <a:t>더미 데이터가 아닌 실제 공공데이터의 불규칙성을 처리하며 </a:t>
            </a:r>
            <a:r>
              <a:rPr b="1" sz="1125" i="0" u="none">
                <a:solidFill>
                  <a:srgbClr val="4F46E5"/>
                </a:solidFill>
                <a:latin typeface="Noto Sans KR"/>
              </a:rPr>
              <a:t>데이터 전처리의 중요성</a:t>
            </a:r>
            <a:r>
              <a:rPr b="0" sz="1125" i="0" u="none">
                <a:solidFill>
                  <a:srgbClr val="334155"/>
                </a:solidFill>
                <a:latin typeface="Noto Sans KR"/>
              </a:rPr>
              <a:t> 체감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8950" y="3150393"/>
            <a:ext cx="44481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Noto Sans KR"/>
              </a:rPr>
              <a:t>단순 코드 작성을 넘어 </a:t>
            </a:r>
            <a:r>
              <a:rPr b="1" sz="1125" i="0" u="none">
                <a:solidFill>
                  <a:srgbClr val="1E1B4B"/>
                </a:solidFill>
                <a:latin typeface="Noto Sans KR"/>
              </a:rPr>
              <a:t>'데이터로 설득하는 스토리텔링'</a:t>
            </a:r>
            <a:r>
              <a:rPr b="0" sz="1125" i="0" u="none">
                <a:solidFill>
                  <a:srgbClr val="334155"/>
                </a:solidFill>
                <a:latin typeface="Noto Sans KR"/>
              </a:rPr>
              <a:t>의 강력함을 배움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91300" y="4057650"/>
            <a:ext cx="100161" cy="12858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38950" y="4245768"/>
            <a:ext cx="44481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Noto Sans KR"/>
              </a:rPr>
              <a:t>초기 API 한도 문제로 속도 지연 → </a:t>
            </a:r>
            <a:r>
              <a:rPr b="1" sz="1125" i="0" u="none">
                <a:solidFill>
                  <a:srgbClr val="0284C7"/>
                </a:solidFill>
                <a:latin typeface="Noto Sans KR"/>
              </a:rPr>
              <a:t>효율적인 로컬 캐싱(Caching) 로직</a:t>
            </a:r>
            <a:r>
              <a:rPr b="0" sz="1125" i="0" u="none">
                <a:solidFill>
                  <a:srgbClr val="334155"/>
                </a:solidFill>
                <a:latin typeface="Noto Sans KR"/>
              </a:rPr>
              <a:t> 도입으로 해결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8950" y="4788693"/>
            <a:ext cx="44481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Noto Sans KR"/>
              </a:rPr>
              <a:t>팀원 간의 활발한 코드 리뷰와 소통이 프로젝트 완성도를 높이는 결정적 계기가 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875" y="428625"/>
            <a:ext cx="111442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Noto Sans KR ExtraBold"/>
              </a:rPr>
              <a:t>팀원 역할 분담(R&amp;R) 및 프로젝트 회고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3875" y="847725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91300" y="2626518"/>
            <a:ext cx="103733" cy="1524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91300" y="3169443"/>
            <a:ext cx="103733" cy="1524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91300" y="4264818"/>
            <a:ext cx="103733" cy="1524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91300" y="4807743"/>
            <a:ext cx="103733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75" y="4419600"/>
            <a:ext cx="857250" cy="47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6381750"/>
            <a:ext cx="1114425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3875" y="6505575"/>
            <a:ext cx="39930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 Medium"/>
              </a:rPr>
              <a:t>9.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6757" y="6505575"/>
            <a:ext cx="461367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 Medium"/>
              </a:rPr>
              <a:t>Page 23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1539" y="2390775"/>
            <a:ext cx="1368772" cy="32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88049" y="2943225"/>
            <a:ext cx="2215901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625"/>
              </a:lnSpc>
            </a:pPr>
            <a:r>
              <a:rPr b="0" sz="4500" i="0" u="none">
                <a:solidFill>
                  <a:srgbClr val="0F172A"/>
                </a:solidFill>
                <a:latin typeface="Noto Sans KR Black"/>
              </a:rPr>
              <a:t>9. Q &amp;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5476" y="3829050"/>
            <a:ext cx="6000898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Noto Sans KR"/>
              </a:rPr>
              <a:t>발표를 경청해 주셔서 감사합니다. 질의응답 시간을 갖도록 하겠습니다.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0541" y="4486275"/>
            <a:ext cx="4950916" cy="561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6381750"/>
            <a:ext cx="1114425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26953" y="2828925"/>
            <a:ext cx="4738092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450" i="0" u="none">
                <a:solidFill>
                  <a:srgbClr val="FFFFFF"/>
                </a:solidFill>
                <a:latin typeface="Plus Jakarta Sans ExtraBold"/>
              </a:rPr>
              <a:t>Questions &amp;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00375" y="3495675"/>
            <a:ext cx="61912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CBD5E1"/>
                </a:solidFill>
                <a:latin typeface="Noto Sans KR"/>
              </a:rPr>
              <a:t>지방 관광 관심-방문 격차 분석 및 수용 태세 개선 전략에 관해 궁금하신 점을 질문해 주세요.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875" y="6505575"/>
            <a:ext cx="235178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 Medium"/>
              </a:rPr>
              <a:t>Bridging the Korean Regional Tourism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6757" y="6505575"/>
            <a:ext cx="461367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 Medium"/>
              </a:rPr>
              <a:t>Page 24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4417" y="1866900"/>
            <a:ext cx="563165" cy="723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2966" y="4686300"/>
            <a:ext cx="118616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23875" y="2957512"/>
            <a:ext cx="111442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3875" y="3719512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3875" y="3719512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3100387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19250" y="3157537"/>
            <a:ext cx="100488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Noto Sans KR"/>
              </a:rPr>
              <a:t>https://www.scnsoft.com/data-analytics/travel-analytics/analytics-dashboard.png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9250" y="3348037"/>
            <a:ext cx="100488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Noto Sans K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KR"/>
              </a:rPr>
              <a:t>www.scnsoft.com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871912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19250" y="3929062"/>
            <a:ext cx="100488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Noto Sans KR"/>
              </a:rPr>
              <a:t>https://upload.wikimedia.org/wikipedia/commons/thumb/2/24/Gyeongju_montage.png/250px-Gyeongju_montage.png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19562"/>
            <a:ext cx="100488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Noto Sans K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KR"/>
              </a:rPr>
              <a:t>en.wikipedia.org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875" y="428625"/>
            <a:ext cx="11668125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Noto Sans KR ExtraBold"/>
              </a:rPr>
              <a:t>Image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" y="781050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3875" y="2957512"/>
            <a:ext cx="111442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3875" y="3719512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3875" y="3719512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3100387"/>
            <a:ext cx="857250" cy="47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19250" y="3157537"/>
            <a:ext cx="100488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Noto Sans KR"/>
              </a:rPr>
              <a:t>https://www.scnsoft.com/data-analytics/travel-analytics/analytics-dashboard.png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9250" y="3348037"/>
            <a:ext cx="100488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Noto Sans K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KR"/>
              </a:rPr>
              <a:t>www.scnsoft.com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3871912"/>
            <a:ext cx="857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19250" y="3929062"/>
            <a:ext cx="100488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Noto Sans KR"/>
              </a:rPr>
              <a:t>https://upload.wikimedia.org/wikipedia/commons/thumb/2/24/Gyeongju_montage.png/250px-Gyeongju_montage.png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4119562"/>
            <a:ext cx="100488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Noto Sans K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Noto Sans KR"/>
              </a:rPr>
              <a:t>en.wikipedia.org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5" y="428625"/>
            <a:ext cx="11668125" cy="352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Noto Sans KR ExtraBold"/>
              </a:rPr>
              <a:t>Image 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" y="781050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